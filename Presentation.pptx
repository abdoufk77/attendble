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 Bold" charset="1" panose="00000000000000000000"/>
      <p:regular r:id="rId21"/>
    </p:embeddedFont>
    <p:embeddedFont>
      <p:font typeface="Poppins" charset="1" panose="00000500000000000000"/>
      <p:regular r:id="rId22"/>
    </p:embeddedFont>
    <p:embeddedFont>
      <p:font typeface="DM Sans" charset="1" panose="00000000000000000000"/>
      <p:regular r:id="rId23"/>
    </p:embeddedFont>
    <p:embeddedFont>
      <p:font typeface="DM Sans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704283" y="1694557"/>
            <a:ext cx="5876304" cy="11627276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58351" t="0" r="-58351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419098" y="4406610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0" y="0"/>
                </a:lnTo>
                <a:lnTo>
                  <a:pt x="4851690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995932" y="4406610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1" y="0"/>
                </a:lnTo>
                <a:lnTo>
                  <a:pt x="4851691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27286" y="7468868"/>
            <a:ext cx="2003612" cy="24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Explore Now</a:t>
            </a:r>
          </a:p>
        </p:txBody>
      </p:sp>
      <p:grpSp>
        <p:nvGrpSpPr>
          <p:cNvPr name="Group 21" id="21"/>
          <p:cNvGrpSpPr/>
          <p:nvPr/>
        </p:nvGrpSpPr>
        <p:grpSpPr>
          <a:xfrm rot="-716400">
            <a:off x="1415067" y="3522646"/>
            <a:ext cx="12286760" cy="5019930"/>
            <a:chOff x="0" y="0"/>
            <a:chExt cx="16382346" cy="6693240"/>
          </a:xfrm>
        </p:grpSpPr>
        <p:grpSp>
          <p:nvGrpSpPr>
            <p:cNvPr name="Group 22" id="22"/>
            <p:cNvGrpSpPr/>
            <p:nvPr/>
          </p:nvGrpSpPr>
          <p:grpSpPr>
            <a:xfrm rot="721894">
              <a:off x="3284859" y="1635688"/>
              <a:ext cx="12846714" cy="3759895"/>
              <a:chOff x="0" y="0"/>
              <a:chExt cx="1972151" cy="57719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972151" cy="577197"/>
              </a:xfrm>
              <a:custGeom>
                <a:avLst/>
                <a:gdLst/>
                <a:ahLst/>
                <a:cxnLst/>
                <a:rect r="r" b="b" t="t" l="l"/>
                <a:pathLst>
                  <a:path h="577197" w="1972151">
                    <a:moveTo>
                      <a:pt x="40176" y="0"/>
                    </a:moveTo>
                    <a:lnTo>
                      <a:pt x="1931975" y="0"/>
                    </a:lnTo>
                    <a:cubicBezTo>
                      <a:pt x="1954164" y="0"/>
                      <a:pt x="1972151" y="17987"/>
                      <a:pt x="1972151" y="40176"/>
                    </a:cubicBezTo>
                    <a:lnTo>
                      <a:pt x="1972151" y="537021"/>
                    </a:lnTo>
                    <a:cubicBezTo>
                      <a:pt x="1972151" y="559209"/>
                      <a:pt x="1954164" y="577197"/>
                      <a:pt x="1931975" y="577197"/>
                    </a:cubicBezTo>
                    <a:lnTo>
                      <a:pt x="40176" y="577197"/>
                    </a:lnTo>
                    <a:cubicBezTo>
                      <a:pt x="17987" y="577197"/>
                      <a:pt x="0" y="559209"/>
                      <a:pt x="0" y="537021"/>
                    </a:cubicBezTo>
                    <a:lnTo>
                      <a:pt x="0" y="40176"/>
                    </a:lnTo>
                    <a:cubicBezTo>
                      <a:pt x="0" y="17987"/>
                      <a:pt x="17987" y="0"/>
                      <a:pt x="4017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972151" cy="615297"/>
              </a:xfrm>
              <a:prstGeom prst="rect">
                <a:avLst/>
              </a:prstGeom>
            </p:spPr>
            <p:txBody>
              <a:bodyPr anchor="ctr" rtlCol="false" tIns="47086" lIns="47086" bIns="47086" rIns="4708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751285">
              <a:off x="10010198" y="2506959"/>
              <a:ext cx="5798684" cy="3354878"/>
              <a:chOff x="0" y="0"/>
              <a:chExt cx="1176590" cy="68072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76590" cy="680726"/>
              </a:xfrm>
              <a:custGeom>
                <a:avLst/>
                <a:gdLst/>
                <a:ahLst/>
                <a:cxnLst/>
                <a:rect r="r" b="b" t="t" l="l"/>
                <a:pathLst>
                  <a:path h="680726" w="1176590">
                    <a:moveTo>
                      <a:pt x="53405" y="0"/>
                    </a:moveTo>
                    <a:lnTo>
                      <a:pt x="1123186" y="0"/>
                    </a:lnTo>
                    <a:cubicBezTo>
                      <a:pt x="1152680" y="0"/>
                      <a:pt x="1176590" y="23910"/>
                      <a:pt x="1176590" y="53405"/>
                    </a:cubicBezTo>
                    <a:lnTo>
                      <a:pt x="1176590" y="627322"/>
                    </a:lnTo>
                    <a:cubicBezTo>
                      <a:pt x="1176590" y="656816"/>
                      <a:pt x="1152680" y="680726"/>
                      <a:pt x="1123186" y="680726"/>
                    </a:cubicBezTo>
                    <a:lnTo>
                      <a:pt x="53405" y="680726"/>
                    </a:lnTo>
                    <a:cubicBezTo>
                      <a:pt x="23910" y="680726"/>
                      <a:pt x="0" y="656816"/>
                      <a:pt x="0" y="627322"/>
                    </a:cubicBezTo>
                    <a:lnTo>
                      <a:pt x="0" y="53405"/>
                    </a:lnTo>
                    <a:cubicBezTo>
                      <a:pt x="0" y="23910"/>
                      <a:pt x="23910" y="0"/>
                      <a:pt x="53405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68183" r="0" b="-68183"/>
                </a:stretch>
              </a:blipFill>
            </p:spPr>
          </p:sp>
        </p:grpSp>
        <p:sp>
          <p:nvSpPr>
            <p:cNvPr name="TextBox 27" id="27"/>
            <p:cNvSpPr txBox="true"/>
            <p:nvPr/>
          </p:nvSpPr>
          <p:spPr>
            <a:xfrm rot="716400">
              <a:off x="320354" y="695432"/>
              <a:ext cx="10162273" cy="27389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83"/>
                </a:lnSpc>
                <a:spcBef>
                  <a:spcPct val="0"/>
                </a:spcBef>
              </a:pPr>
              <a:r>
                <a:rPr lang="en-US" sz="11845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Attend</a:t>
              </a:r>
              <a:r>
                <a:rPr lang="en-US" sz="11845">
                  <a:solidFill>
                    <a:srgbClr val="005BBF"/>
                  </a:solidFill>
                  <a:latin typeface="Poppins"/>
                  <a:ea typeface="Poppins"/>
                  <a:cs typeface="Poppins"/>
                  <a:sym typeface="Poppins"/>
                </a:rPr>
                <a:t>BLE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716400">
              <a:off x="-35111" y="3397494"/>
              <a:ext cx="9619540" cy="666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b="true" sz="3099">
                  <a:solidFill>
                    <a:srgbClr val="1F2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Application de Gestion des Absences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8700" y="1028700"/>
            <a:ext cx="5576778" cy="1277262"/>
          </a:xfrm>
          <a:custGeom>
            <a:avLst/>
            <a:gdLst/>
            <a:ahLst/>
            <a:cxnLst/>
            <a:rect r="r" b="b" t="t" l="l"/>
            <a:pathLst>
              <a:path h="1277262" w="5576778">
                <a:moveTo>
                  <a:pt x="0" y="0"/>
                </a:moveTo>
                <a:lnTo>
                  <a:pt x="5576778" y="0"/>
                </a:lnTo>
                <a:lnTo>
                  <a:pt x="5576778" y="1277262"/>
                </a:lnTo>
                <a:lnTo>
                  <a:pt x="0" y="12772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34676" y="8457240"/>
            <a:ext cx="58996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Présenté par : Abderrahmane Foukahy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4676" y="8905875"/>
            <a:ext cx="638442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Encadré par : Pr. BOUSMAH Mohammed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60750" y="938479"/>
            <a:ext cx="15970139" cy="9734017"/>
            <a:chOff x="0" y="0"/>
            <a:chExt cx="4206127" cy="256369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206127" cy="2563692"/>
            </a:xfrm>
            <a:custGeom>
              <a:avLst/>
              <a:gdLst/>
              <a:ahLst/>
              <a:cxnLst/>
              <a:rect r="r" b="b" t="t" l="l"/>
              <a:pathLst>
                <a:path h="2563692" w="4206127">
                  <a:moveTo>
                    <a:pt x="14543" y="0"/>
                  </a:moveTo>
                  <a:lnTo>
                    <a:pt x="4191584" y="0"/>
                  </a:lnTo>
                  <a:cubicBezTo>
                    <a:pt x="4199616" y="0"/>
                    <a:pt x="4206127" y="6511"/>
                    <a:pt x="4206127" y="14543"/>
                  </a:cubicBezTo>
                  <a:lnTo>
                    <a:pt x="4206127" y="2549148"/>
                  </a:lnTo>
                  <a:cubicBezTo>
                    <a:pt x="4206127" y="2553005"/>
                    <a:pt x="4204595" y="2556705"/>
                    <a:pt x="4201868" y="2559432"/>
                  </a:cubicBezTo>
                  <a:cubicBezTo>
                    <a:pt x="4199140" y="2562159"/>
                    <a:pt x="4195441" y="2563692"/>
                    <a:pt x="4191584" y="2563692"/>
                  </a:cubicBezTo>
                  <a:lnTo>
                    <a:pt x="14543" y="2563692"/>
                  </a:lnTo>
                  <a:cubicBezTo>
                    <a:pt x="10686" y="2563692"/>
                    <a:pt x="6987" y="2562159"/>
                    <a:pt x="4260" y="2559432"/>
                  </a:cubicBezTo>
                  <a:cubicBezTo>
                    <a:pt x="1532" y="2556705"/>
                    <a:pt x="0" y="2553005"/>
                    <a:pt x="0" y="2549148"/>
                  </a:cubicBezTo>
                  <a:lnTo>
                    <a:pt x="0" y="14543"/>
                  </a:lnTo>
                  <a:cubicBezTo>
                    <a:pt x="0" y="10686"/>
                    <a:pt x="1532" y="6987"/>
                    <a:pt x="4260" y="4260"/>
                  </a:cubicBezTo>
                  <a:cubicBezTo>
                    <a:pt x="6987" y="1532"/>
                    <a:pt x="10686" y="0"/>
                    <a:pt x="14543" y="0"/>
                  </a:cubicBezTo>
                  <a:close/>
                </a:path>
              </a:pathLst>
            </a:custGeom>
            <a:solidFill>
              <a:srgbClr val="34B9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206127" cy="2582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96192" y="3712474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96192" y="5324013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87325" y="1933575"/>
            <a:ext cx="109956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9503" y="3674561"/>
            <a:ext cx="97734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Contexte et problématique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9503" y="5286100"/>
            <a:ext cx="97734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Solution proposée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09503" y="6905377"/>
            <a:ext cx="97734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Analyse et conception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9503" y="8520785"/>
            <a:ext cx="97734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Stack technique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496192" y="6935552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96192" y="8547091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500" y="1422081"/>
            <a:ext cx="1714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roblématique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71500" y="3757469"/>
            <a:ext cx="12634444" cy="967604"/>
            <a:chOff x="0" y="0"/>
            <a:chExt cx="16845925" cy="129013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36114"/>
              <a:ext cx="1684592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sz="21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le prof perd 5-10 min par cours à faire l'appel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684592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b="true" sz="2199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Pointage manuel chronophage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1500" y="5143500"/>
            <a:ext cx="12634444" cy="967604"/>
            <a:chOff x="0" y="0"/>
            <a:chExt cx="16845925" cy="129013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36114"/>
              <a:ext cx="1684592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sz="21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as de statistiques fiables ni d'historique exploitable pour les administrations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684592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b="true" sz="2199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Suivi des absences difficile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1500" y="6530204"/>
            <a:ext cx="12634444" cy="967604"/>
            <a:chOff x="0" y="0"/>
            <a:chExt cx="16845925" cy="129013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36114"/>
              <a:ext cx="1684592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sz="21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oublis, mauvaise orthographe des noms, feuilles perdues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1684592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b="true" sz="2199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Erreurs humaines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500" y="1422081"/>
            <a:ext cx="1714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Sol</a:t>
            </a: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3679980"/>
            <a:ext cx="12967070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AttendB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LE est une application Android qui automatise et sécur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is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 pointag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e d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 é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ud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nts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 grâce à une triple vérification — BLE, code temporaire et reconnaissance faciale — rendant toute fraude impossible.</a:t>
            </a:r>
          </a:p>
          <a:p>
            <a:pPr algn="l" marL="0" indent="0" lvl="0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08592">
            <a:off x="12618960" y="3094933"/>
            <a:ext cx="6400577" cy="8742628"/>
            <a:chOff x="0" y="0"/>
            <a:chExt cx="1176590" cy="1607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6590" cy="1607119"/>
            </a:xfrm>
            <a:custGeom>
              <a:avLst/>
              <a:gdLst/>
              <a:ahLst/>
              <a:cxnLst/>
              <a:rect r="r" b="b" t="t" l="l"/>
              <a:pathLst>
                <a:path h="1607119" w="1176590">
                  <a:moveTo>
                    <a:pt x="36287" y="0"/>
                  </a:moveTo>
                  <a:lnTo>
                    <a:pt x="1140303" y="0"/>
                  </a:lnTo>
                  <a:cubicBezTo>
                    <a:pt x="1149927" y="0"/>
                    <a:pt x="1159157" y="3823"/>
                    <a:pt x="1165962" y="10628"/>
                  </a:cubicBezTo>
                  <a:cubicBezTo>
                    <a:pt x="1172767" y="17433"/>
                    <a:pt x="1176590" y="26663"/>
                    <a:pt x="1176590" y="36287"/>
                  </a:cubicBezTo>
                  <a:lnTo>
                    <a:pt x="1176590" y="1570833"/>
                  </a:lnTo>
                  <a:cubicBezTo>
                    <a:pt x="1176590" y="1590873"/>
                    <a:pt x="1160344" y="1607119"/>
                    <a:pt x="1140303" y="1607119"/>
                  </a:cubicBezTo>
                  <a:lnTo>
                    <a:pt x="36287" y="1607119"/>
                  </a:lnTo>
                  <a:cubicBezTo>
                    <a:pt x="26663" y="1607119"/>
                    <a:pt x="17433" y="1603296"/>
                    <a:pt x="10628" y="1596491"/>
                  </a:cubicBezTo>
                  <a:cubicBezTo>
                    <a:pt x="3823" y="1589686"/>
                    <a:pt x="0" y="1580456"/>
                    <a:pt x="0" y="1570833"/>
                  </a:cubicBezTo>
                  <a:lnTo>
                    <a:pt x="0" y="36287"/>
                  </a:lnTo>
                  <a:cubicBezTo>
                    <a:pt x="0" y="26663"/>
                    <a:pt x="3823" y="17433"/>
                    <a:pt x="10628" y="10628"/>
                  </a:cubicBezTo>
                  <a:cubicBezTo>
                    <a:pt x="17433" y="3823"/>
                    <a:pt x="26663" y="0"/>
                    <a:pt x="3628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7569" y="5805488"/>
            <a:ext cx="4084905" cy="2251310"/>
            <a:chOff x="0" y="0"/>
            <a:chExt cx="5446540" cy="30017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9050" y="639546"/>
              <a:ext cx="5419891" cy="236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BLE détecté, assurant la présence physique dans la salle de classe.</a:t>
              </a:r>
            </a:p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Portée d'environ 10 mètres, permettant une couverture adéquate.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525"/>
              <a:ext cx="544654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8"/>
                </a:lnSpc>
              </a:pPr>
              <a:r>
                <a:rPr lang="en-US" b="true" sz="1739">
                  <a:solidFill>
                    <a:srgbClr val="005B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Preuve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07632" y="5805488"/>
            <a:ext cx="4084905" cy="1660760"/>
            <a:chOff x="0" y="0"/>
            <a:chExt cx="5446540" cy="221434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9050" y="639546"/>
              <a:ext cx="5426241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Code temporaire renouvelé toutes les 5 minutes pour confirmer l'authenticité du pointage.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544654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8"/>
                </a:lnSpc>
              </a:pPr>
              <a:r>
                <a:rPr lang="en-US" b="true" sz="1739">
                  <a:solidFill>
                    <a:srgbClr val="005B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Preuve 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1500" y="2364740"/>
            <a:ext cx="876300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La solution repose sur </a:t>
            </a:r>
            <a:r>
              <a:rPr lang="en-US" b="true" sz="4500" spc="-135">
                <a:solidFill>
                  <a:srgbClr val="005BBF"/>
                </a:solidFill>
                <a:latin typeface="DM Sans Bold"/>
                <a:ea typeface="DM Sans Bold"/>
                <a:cs typeface="DM Sans Bold"/>
                <a:sym typeface="DM Sans Bold"/>
              </a:rPr>
              <a:t>trois preuves distinctes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 pour garantir la présence réelle et authentique de chaque étudiant.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5805488"/>
            <a:ext cx="4084905" cy="774935"/>
            <a:chOff x="0" y="0"/>
            <a:chExt cx="5446540" cy="103324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9050" y="639546"/>
              <a:ext cx="5426241" cy="393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reconnaissance faciale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44654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8"/>
                </a:lnSpc>
              </a:pPr>
              <a:r>
                <a:rPr lang="en-US" b="true" sz="1739">
                  <a:solidFill>
                    <a:srgbClr val="005B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Preuve 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78128" y="4619625"/>
            <a:ext cx="11531744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Analyse et concep</a:t>
            </a: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500" y="1422081"/>
            <a:ext cx="1714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Acteurs et cas d'usage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3037991"/>
            <a:ext cx="7522013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Professeur et étudiant interagissent via l'application pour gérer les présences.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71500" y="6106112"/>
            <a:ext cx="12634444" cy="967604"/>
            <a:chOff x="0" y="0"/>
            <a:chExt cx="16845925" cy="129013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836114"/>
              <a:ext cx="1684592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sz="21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Le professeur peut créer des classes, gérer les membres et suivre les présences en direct.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6845925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b="true" sz="2199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Professeur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7481335"/>
            <a:ext cx="16074479" cy="966381"/>
            <a:chOff x="0" y="0"/>
            <a:chExt cx="21432639" cy="128850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34483"/>
              <a:ext cx="21432639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sz="21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L'étudiant rejoint une classe, scanne le signal BLE, confirme sa présence et gère son profil via l'application.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21432639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9"/>
                </a:lnSpc>
              </a:pPr>
              <a:r>
                <a:rPr lang="en-US" b="true" sz="2199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Étudiant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8362" y="2715527"/>
            <a:ext cx="10479548" cy="7571473"/>
          </a:xfrm>
          <a:custGeom>
            <a:avLst/>
            <a:gdLst/>
            <a:ahLst/>
            <a:cxnLst/>
            <a:rect r="r" b="b" t="t" l="l"/>
            <a:pathLst>
              <a:path h="7571473" w="10479548">
                <a:moveTo>
                  <a:pt x="0" y="0"/>
                </a:moveTo>
                <a:lnTo>
                  <a:pt x="10479548" y="0"/>
                </a:lnTo>
                <a:lnTo>
                  <a:pt x="10479548" y="7571473"/>
                </a:lnTo>
                <a:lnTo>
                  <a:pt x="0" y="7571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1500" y="1422081"/>
            <a:ext cx="1714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Acteurs et cas d'usage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1500" y="3460746"/>
            <a:ext cx="266032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Professeur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5437" y="3304526"/>
            <a:ext cx="12136766" cy="6982474"/>
          </a:xfrm>
          <a:custGeom>
            <a:avLst/>
            <a:gdLst/>
            <a:ahLst/>
            <a:cxnLst/>
            <a:rect r="r" b="b" t="t" l="l"/>
            <a:pathLst>
              <a:path h="6982474" w="12136766">
                <a:moveTo>
                  <a:pt x="0" y="0"/>
                </a:moveTo>
                <a:lnTo>
                  <a:pt x="12136766" y="0"/>
                </a:lnTo>
                <a:lnTo>
                  <a:pt x="12136766" y="6982474"/>
                </a:lnTo>
                <a:lnTo>
                  <a:pt x="0" y="698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1500" y="1422081"/>
            <a:ext cx="1714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Acteurs et cas d'usage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1500" y="3460746"/>
            <a:ext cx="266032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Et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udiant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84851" y="2192755"/>
            <a:ext cx="14003149" cy="7816048"/>
            <a:chOff x="0" y="0"/>
            <a:chExt cx="2515153" cy="1403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5153" cy="1403867"/>
            </a:xfrm>
            <a:custGeom>
              <a:avLst/>
              <a:gdLst/>
              <a:ahLst/>
              <a:cxnLst/>
              <a:rect r="r" b="b" t="t" l="l"/>
              <a:pathLst>
                <a:path h="1403867" w="2515153">
                  <a:moveTo>
                    <a:pt x="16586" y="0"/>
                  </a:moveTo>
                  <a:lnTo>
                    <a:pt x="2498567" y="0"/>
                  </a:lnTo>
                  <a:cubicBezTo>
                    <a:pt x="2502965" y="0"/>
                    <a:pt x="2507184" y="1747"/>
                    <a:pt x="2510295" y="4858"/>
                  </a:cubicBezTo>
                  <a:cubicBezTo>
                    <a:pt x="2513405" y="7968"/>
                    <a:pt x="2515153" y="12187"/>
                    <a:pt x="2515153" y="16586"/>
                  </a:cubicBezTo>
                  <a:lnTo>
                    <a:pt x="2515153" y="1387281"/>
                  </a:lnTo>
                  <a:cubicBezTo>
                    <a:pt x="2515153" y="1396441"/>
                    <a:pt x="2507727" y="1403867"/>
                    <a:pt x="2498567" y="1403867"/>
                  </a:cubicBezTo>
                  <a:lnTo>
                    <a:pt x="16586" y="1403867"/>
                  </a:lnTo>
                  <a:cubicBezTo>
                    <a:pt x="7426" y="1403867"/>
                    <a:pt x="0" y="1396441"/>
                    <a:pt x="0" y="1387281"/>
                  </a:cubicBezTo>
                  <a:lnTo>
                    <a:pt x="0" y="16586"/>
                  </a:lnTo>
                  <a:cubicBezTo>
                    <a:pt x="0" y="7426"/>
                    <a:pt x="7426" y="0"/>
                    <a:pt x="1658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211" r="0" b="-621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1029068"/>
            <a:ext cx="8572500" cy="2327376"/>
            <a:chOff x="0" y="0"/>
            <a:chExt cx="11430000" cy="31031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04775"/>
              <a:ext cx="11430000" cy="1136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08"/>
                </a:lnSpc>
              </a:pPr>
              <a:r>
                <a:rPr lang="en-US" sz="6108" spc="-183">
                  <a:solidFill>
                    <a:srgbClr val="005BBF"/>
                  </a:solidFill>
                  <a:latin typeface="DM Sans"/>
                  <a:ea typeface="DM Sans"/>
                  <a:cs typeface="DM Sans"/>
                  <a:sym typeface="DM Sans"/>
                </a:rPr>
                <a:t>D</a:t>
              </a:r>
              <a:r>
                <a:rPr lang="en-US" sz="6108" spc="-183">
                  <a:solidFill>
                    <a:srgbClr val="005BBF"/>
                  </a:solidFill>
                  <a:latin typeface="DM Sans"/>
                  <a:ea typeface="DM Sans"/>
                  <a:cs typeface="DM Sans"/>
                  <a:sym typeface="DM Sans"/>
                </a:rPr>
                <a:t>iagramme de class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689412"/>
              <a:ext cx="11430000" cy="413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3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500" y="1422081"/>
            <a:ext cx="171450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Stack Technique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1500" y="3460746"/>
            <a:ext cx="6981825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Ensemble des technologies utilisées dans le projet AttendBLE.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71500" y="5584925"/>
            <a:ext cx="16687800" cy="860700"/>
            <a:chOff x="0" y="0"/>
            <a:chExt cx="22250400" cy="114760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31676"/>
              <a:ext cx="222504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Le développement mobile utilise Android natif en Java avec un minimum de SDK 26 pour assurer une compatibilité optimale.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"/>
              <a:ext cx="222504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b="true" sz="2000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Mobile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7102850"/>
            <a:ext cx="16687800" cy="1165500"/>
            <a:chOff x="0" y="0"/>
            <a:chExt cx="22250400" cy="155400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731676"/>
              <a:ext cx="2225040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Le backend est construit avec Spring Boot 3.x, utilisant une base de données H2 et Spring Security pour la gestion des utilisateurs, garantissant ainsi la sécurité et la performance de l'application.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2225040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b="true" sz="2000">
                  <a:solidFill>
                    <a:srgbClr val="2222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Backend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08592">
            <a:off x="11811630" y="2242188"/>
            <a:ext cx="4662865" cy="2697740"/>
            <a:chOff x="0" y="0"/>
            <a:chExt cx="1176590" cy="6807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6590" cy="680726"/>
            </a:xfrm>
            <a:custGeom>
              <a:avLst/>
              <a:gdLst/>
              <a:ahLst/>
              <a:cxnLst/>
              <a:rect r="r" b="b" t="t" l="l"/>
              <a:pathLst>
                <a:path h="680726" w="1176590">
                  <a:moveTo>
                    <a:pt x="49810" y="0"/>
                  </a:moveTo>
                  <a:lnTo>
                    <a:pt x="1126780" y="0"/>
                  </a:lnTo>
                  <a:cubicBezTo>
                    <a:pt x="1139991" y="0"/>
                    <a:pt x="1152660" y="5248"/>
                    <a:pt x="1162001" y="14589"/>
                  </a:cubicBezTo>
                  <a:cubicBezTo>
                    <a:pt x="1171343" y="23930"/>
                    <a:pt x="1176590" y="36600"/>
                    <a:pt x="1176590" y="49810"/>
                  </a:cubicBezTo>
                  <a:lnTo>
                    <a:pt x="1176590" y="630916"/>
                  </a:lnTo>
                  <a:cubicBezTo>
                    <a:pt x="1176590" y="644127"/>
                    <a:pt x="1171343" y="656796"/>
                    <a:pt x="1162001" y="666137"/>
                  </a:cubicBezTo>
                  <a:cubicBezTo>
                    <a:pt x="1152660" y="675478"/>
                    <a:pt x="1139991" y="680726"/>
                    <a:pt x="1126780" y="680726"/>
                  </a:cubicBezTo>
                  <a:lnTo>
                    <a:pt x="49810" y="680726"/>
                  </a:lnTo>
                  <a:cubicBezTo>
                    <a:pt x="36600" y="680726"/>
                    <a:pt x="23930" y="675478"/>
                    <a:pt x="14589" y="666137"/>
                  </a:cubicBezTo>
                  <a:cubicBezTo>
                    <a:pt x="5248" y="656796"/>
                    <a:pt x="0" y="644127"/>
                    <a:pt x="0" y="630916"/>
                  </a:cubicBezTo>
                  <a:lnTo>
                    <a:pt x="0" y="49810"/>
                  </a:lnTo>
                  <a:cubicBezTo>
                    <a:pt x="0" y="36600"/>
                    <a:pt x="5248" y="23930"/>
                    <a:pt x="14589" y="14589"/>
                  </a:cubicBezTo>
                  <a:cubicBezTo>
                    <a:pt x="23930" y="5248"/>
                    <a:pt x="36600" y="0"/>
                    <a:pt x="498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8183" r="0" b="-681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7569" y="5805488"/>
            <a:ext cx="4084905" cy="2251310"/>
            <a:chOff x="0" y="0"/>
            <a:chExt cx="5446540" cy="30017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9050" y="639546"/>
              <a:ext cx="5419891" cy="236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Agit en tant qu'advertiser, diffusant un beaconUUID unique pour chaque session.</a:t>
              </a:r>
            </a:p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Assure la vérification de la présence physique dans la salle de classe.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525"/>
              <a:ext cx="544654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8"/>
                </a:lnSpc>
              </a:pPr>
              <a:r>
                <a:rPr lang="en-US" b="true" sz="1739">
                  <a:solidFill>
                    <a:srgbClr val="005B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Professeur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07632" y="5805488"/>
            <a:ext cx="4084905" cy="1660760"/>
            <a:chOff x="0" y="0"/>
            <a:chExt cx="5446540" cy="221434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9050" y="639546"/>
              <a:ext cx="5426241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Utilise un scanner pour détecter les beacons et confirmer la présence en comparant au targetUUID.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544654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8"/>
                </a:lnSpc>
              </a:pPr>
              <a:r>
                <a:rPr lang="en-US" b="true" sz="1739">
                  <a:solidFill>
                    <a:srgbClr val="005B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Étudiant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1500" y="2364740"/>
            <a:ext cx="876300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L'architecture BLE permet de </a:t>
            </a:r>
            <a:r>
              <a:rPr lang="en-US" b="true" sz="4500" spc="-135">
                <a:solidFill>
                  <a:srgbClr val="005BBF"/>
                </a:solidFill>
                <a:latin typeface="DM Sans Bold"/>
                <a:ea typeface="DM Sans Bold"/>
                <a:cs typeface="DM Sans Bold"/>
                <a:sym typeface="DM Sans Bold"/>
              </a:rPr>
              <a:t>détecter les présences</a:t>
            </a: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 physiques des étudiants grâce à un système de beacon et de scanner.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05000" y="520998"/>
            <a:ext cx="3111500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0"/>
              </a:lnSpc>
            </a:pPr>
            <a:r>
              <a:rPr lang="en-US" b="true" sz="1400" spc="-21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ARCHITECTURE BLE MISE EN ŒUVRE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5375" y="520998"/>
            <a:ext cx="3111500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0"/>
              </a:lnSpc>
            </a:pPr>
            <a:r>
              <a:rPr lang="en-US" b="true" sz="1400" spc="-21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BLE DANS ATTENDBLE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500" y="520998"/>
            <a:ext cx="3111500" cy="2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0"/>
              </a:lnSpc>
            </a:pPr>
            <a:r>
              <a:rPr lang="en-US" b="true" sz="1400" spc="-21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ATTENDBLE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08592">
            <a:off x="11540060" y="2043617"/>
            <a:ext cx="7218806" cy="9860257"/>
            <a:chOff x="0" y="0"/>
            <a:chExt cx="1176590" cy="1607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6590" cy="1607119"/>
            </a:xfrm>
            <a:custGeom>
              <a:avLst/>
              <a:gdLst/>
              <a:ahLst/>
              <a:cxnLst/>
              <a:rect r="r" b="b" t="t" l="l"/>
              <a:pathLst>
                <a:path h="1607119" w="1176590">
                  <a:moveTo>
                    <a:pt x="32174" y="0"/>
                  </a:moveTo>
                  <a:lnTo>
                    <a:pt x="1144416" y="0"/>
                  </a:lnTo>
                  <a:cubicBezTo>
                    <a:pt x="1162186" y="0"/>
                    <a:pt x="1176590" y="14405"/>
                    <a:pt x="1176590" y="32174"/>
                  </a:cubicBezTo>
                  <a:lnTo>
                    <a:pt x="1176590" y="1574946"/>
                  </a:lnTo>
                  <a:cubicBezTo>
                    <a:pt x="1176590" y="1592715"/>
                    <a:pt x="1162186" y="1607119"/>
                    <a:pt x="1144416" y="1607119"/>
                  </a:cubicBezTo>
                  <a:lnTo>
                    <a:pt x="32174" y="1607119"/>
                  </a:lnTo>
                  <a:cubicBezTo>
                    <a:pt x="23641" y="1607119"/>
                    <a:pt x="15457" y="1603730"/>
                    <a:pt x="9424" y="1597696"/>
                  </a:cubicBezTo>
                  <a:cubicBezTo>
                    <a:pt x="3390" y="1591662"/>
                    <a:pt x="0" y="1583479"/>
                    <a:pt x="0" y="1574946"/>
                  </a:cubicBezTo>
                  <a:lnTo>
                    <a:pt x="0" y="32174"/>
                  </a:lnTo>
                  <a:cubicBezTo>
                    <a:pt x="0" y="14405"/>
                    <a:pt x="14405" y="0"/>
                    <a:pt x="3217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7569" y="5805488"/>
            <a:ext cx="4084905" cy="2841860"/>
            <a:chOff x="0" y="0"/>
            <a:chExt cx="5446540" cy="37891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9050" y="639546"/>
              <a:ext cx="5419891" cy="314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Utilisation de ML Kit Face Detection pour la détection de visage et liveness en temps réel.</a:t>
              </a:r>
            </a:p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Identification des angles de la tête pour assurer une vérification complète et précise.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525"/>
              <a:ext cx="544654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8"/>
                </a:lnSpc>
              </a:pPr>
              <a:r>
                <a:rPr lang="en-US" b="true" sz="1739">
                  <a:solidFill>
                    <a:srgbClr val="005B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Détection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07632" y="5805488"/>
            <a:ext cx="4084905" cy="1660760"/>
            <a:chOff x="0" y="0"/>
            <a:chExt cx="5446540" cy="221434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9050" y="639546"/>
              <a:ext cx="5426241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sz="1999">
                  <a:solidFill>
                    <a:srgbClr val="222222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Création d'un embedding de 192 floats via MobileFaceNet, garantissant la protection de la vie privée.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544654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88"/>
                </a:lnSpc>
              </a:pPr>
              <a:r>
                <a:rPr lang="en-US" b="true" sz="1739">
                  <a:solidFill>
                    <a:srgbClr val="005B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Extraction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1500" y="2364740"/>
            <a:ext cx="876300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La reconnaissance faciale dans AttendBLE utilise des techniques avancées pour garantir l'identité des étudiants lors du pointage.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306965"/>
            <a:ext cx="6159500" cy="6311954"/>
            <a:chOff x="0" y="0"/>
            <a:chExt cx="1287564" cy="1319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564" cy="1319433"/>
            </a:xfrm>
            <a:custGeom>
              <a:avLst/>
              <a:gdLst/>
              <a:ahLst/>
              <a:cxnLst/>
              <a:rect r="r" b="b" t="t" l="l"/>
              <a:pathLst>
                <a:path h="1319433" w="1287564">
                  <a:moveTo>
                    <a:pt x="50276" y="0"/>
                  </a:moveTo>
                  <a:lnTo>
                    <a:pt x="1237288" y="0"/>
                  </a:lnTo>
                  <a:cubicBezTo>
                    <a:pt x="1250622" y="0"/>
                    <a:pt x="1263410" y="5297"/>
                    <a:pt x="1272838" y="14726"/>
                  </a:cubicBezTo>
                  <a:cubicBezTo>
                    <a:pt x="1282267" y="24154"/>
                    <a:pt x="1287564" y="36942"/>
                    <a:pt x="1287564" y="50276"/>
                  </a:cubicBezTo>
                  <a:lnTo>
                    <a:pt x="1287564" y="1269156"/>
                  </a:lnTo>
                  <a:cubicBezTo>
                    <a:pt x="1287564" y="1296923"/>
                    <a:pt x="1265055" y="1319433"/>
                    <a:pt x="1237288" y="1319433"/>
                  </a:cubicBezTo>
                  <a:lnTo>
                    <a:pt x="50276" y="1319433"/>
                  </a:lnTo>
                  <a:cubicBezTo>
                    <a:pt x="22509" y="1319433"/>
                    <a:pt x="0" y="1296923"/>
                    <a:pt x="0" y="1269156"/>
                  </a:cubicBezTo>
                  <a:lnTo>
                    <a:pt x="0" y="50276"/>
                  </a:lnTo>
                  <a:cubicBezTo>
                    <a:pt x="0" y="22509"/>
                    <a:pt x="22509" y="0"/>
                    <a:pt x="50276" y="0"/>
                  </a:cubicBezTo>
                  <a:close/>
                </a:path>
              </a:pathLst>
            </a:custGeom>
            <a:blipFill>
              <a:blip r:embed="rId2"/>
              <a:stretch>
                <a:fillRect l="-2001" t="-7813" r="-2764" b="-119376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350000" y="4306965"/>
            <a:ext cx="5588000" cy="6311954"/>
            <a:chOff x="0" y="0"/>
            <a:chExt cx="1168099" cy="13194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8099" cy="1319433"/>
            </a:xfrm>
            <a:custGeom>
              <a:avLst/>
              <a:gdLst/>
              <a:ahLst/>
              <a:cxnLst/>
              <a:rect r="r" b="b" t="t" l="l"/>
              <a:pathLst>
                <a:path h="1319433" w="1168099">
                  <a:moveTo>
                    <a:pt x="55418" y="0"/>
                  </a:moveTo>
                  <a:lnTo>
                    <a:pt x="1112681" y="0"/>
                  </a:lnTo>
                  <a:cubicBezTo>
                    <a:pt x="1127379" y="0"/>
                    <a:pt x="1141475" y="5839"/>
                    <a:pt x="1151868" y="16232"/>
                  </a:cubicBezTo>
                  <a:cubicBezTo>
                    <a:pt x="1162261" y="26625"/>
                    <a:pt x="1168099" y="40720"/>
                    <a:pt x="1168099" y="55418"/>
                  </a:cubicBezTo>
                  <a:lnTo>
                    <a:pt x="1168099" y="1264014"/>
                  </a:lnTo>
                  <a:cubicBezTo>
                    <a:pt x="1168099" y="1294621"/>
                    <a:pt x="1143288" y="1319433"/>
                    <a:pt x="1112681" y="1319433"/>
                  </a:cubicBezTo>
                  <a:lnTo>
                    <a:pt x="55418" y="1319433"/>
                  </a:lnTo>
                  <a:cubicBezTo>
                    <a:pt x="40720" y="1319433"/>
                    <a:pt x="26625" y="1313594"/>
                    <a:pt x="16232" y="1303201"/>
                  </a:cubicBezTo>
                  <a:cubicBezTo>
                    <a:pt x="5839" y="1292808"/>
                    <a:pt x="0" y="1278712"/>
                    <a:pt x="0" y="1264014"/>
                  </a:cubicBezTo>
                  <a:lnTo>
                    <a:pt x="0" y="55418"/>
                  </a:lnTo>
                  <a:cubicBezTo>
                    <a:pt x="0" y="40720"/>
                    <a:pt x="5839" y="26625"/>
                    <a:pt x="16232" y="16232"/>
                  </a:cubicBezTo>
                  <a:cubicBezTo>
                    <a:pt x="26625" y="5839"/>
                    <a:pt x="40720" y="0"/>
                    <a:pt x="5541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325" r="0" b="-90408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28500" y="4306965"/>
            <a:ext cx="6420459" cy="6311954"/>
            <a:chOff x="0" y="0"/>
            <a:chExt cx="1342114" cy="13194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2114" cy="1319433"/>
            </a:xfrm>
            <a:custGeom>
              <a:avLst/>
              <a:gdLst/>
              <a:ahLst/>
              <a:cxnLst/>
              <a:rect r="r" b="b" t="t" l="l"/>
              <a:pathLst>
                <a:path h="1319433" w="1342114">
                  <a:moveTo>
                    <a:pt x="48233" y="0"/>
                  </a:moveTo>
                  <a:lnTo>
                    <a:pt x="1293881" y="0"/>
                  </a:lnTo>
                  <a:cubicBezTo>
                    <a:pt x="1320520" y="0"/>
                    <a:pt x="1342114" y="21595"/>
                    <a:pt x="1342114" y="48233"/>
                  </a:cubicBezTo>
                  <a:lnTo>
                    <a:pt x="1342114" y="1271200"/>
                  </a:lnTo>
                  <a:cubicBezTo>
                    <a:pt x="1342114" y="1297838"/>
                    <a:pt x="1320520" y="1319433"/>
                    <a:pt x="1293881" y="1319433"/>
                  </a:cubicBezTo>
                  <a:lnTo>
                    <a:pt x="48233" y="1319433"/>
                  </a:lnTo>
                  <a:cubicBezTo>
                    <a:pt x="35441" y="1319433"/>
                    <a:pt x="23172" y="1314351"/>
                    <a:pt x="14127" y="1305306"/>
                  </a:cubicBezTo>
                  <a:cubicBezTo>
                    <a:pt x="5082" y="1296260"/>
                    <a:pt x="0" y="1283992"/>
                    <a:pt x="0" y="1271200"/>
                  </a:cubicBezTo>
                  <a:lnTo>
                    <a:pt x="0" y="48233"/>
                  </a:lnTo>
                  <a:cubicBezTo>
                    <a:pt x="0" y="35441"/>
                    <a:pt x="5082" y="23172"/>
                    <a:pt x="14127" y="14127"/>
                  </a:cubicBezTo>
                  <a:cubicBezTo>
                    <a:pt x="23172" y="5082"/>
                    <a:pt x="35441" y="0"/>
                    <a:pt x="4823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930" r="0" b="-117112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974249" y="1400975"/>
            <a:ext cx="10208814" cy="1113598"/>
            <a:chOff x="0" y="0"/>
            <a:chExt cx="13611753" cy="148479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46597"/>
              <a:ext cx="13611753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005BBF"/>
                  </a:solidFill>
                  <a:latin typeface="DM Sans"/>
                  <a:ea typeface="DM Sans"/>
                  <a:cs typeface="DM Sans"/>
                  <a:sym typeface="DM Sans"/>
                </a:rPr>
                <a:t>Demo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3611753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00"/>
                </a:lnSpc>
              </a:pPr>
              <a:r>
                <a:rPr lang="en-US" b="true" sz="2000" spc="16">
                  <a:solidFill>
                    <a:srgbClr val="005B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EXPLORATION DE L'APPLICATION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370620"/>
            <a:ext cx="16954500" cy="337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 spc="-389">
                <a:solidFill>
                  <a:srgbClr val="005BBF"/>
                </a:solidFill>
                <a:latin typeface="DM Sans"/>
                <a:ea typeface="DM Sans"/>
                <a:cs typeface="DM Sans"/>
                <a:sym typeface="DM Sans"/>
              </a:rP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Présentation - Gestion d'absences par BLE</dc:description>
  <dc:identifier>DAHKEBph7F4</dc:identifier>
  <dcterms:modified xsi:type="dcterms:W3CDTF">2011-08-01T06:04:30Z</dcterms:modified>
  <cp:revision>1</cp:revision>
  <dc:title>Présentation - Gestion d'absences par BLE</dc:title>
</cp:coreProperties>
</file>